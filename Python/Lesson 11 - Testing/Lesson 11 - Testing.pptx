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22"/>
  </p:notesMasterIdLst>
  <p:sldIdLst>
    <p:sldId id="321" r:id="rId2"/>
    <p:sldId id="322" r:id="rId3"/>
    <p:sldId id="323" r:id="rId4"/>
    <p:sldId id="324" r:id="rId5"/>
    <p:sldId id="325" r:id="rId6"/>
    <p:sldId id="326" r:id="rId7"/>
    <p:sldId id="328" r:id="rId8"/>
    <p:sldId id="335" r:id="rId9"/>
    <p:sldId id="336" r:id="rId10"/>
    <p:sldId id="327" r:id="rId11"/>
    <p:sldId id="337" r:id="rId12"/>
    <p:sldId id="338" r:id="rId13"/>
    <p:sldId id="339" r:id="rId14"/>
    <p:sldId id="331" r:id="rId15"/>
    <p:sldId id="333" r:id="rId16"/>
    <p:sldId id="329" r:id="rId17"/>
    <p:sldId id="330" r:id="rId18"/>
    <p:sldId id="332" r:id="rId19"/>
    <p:sldId id="334" r:id="rId20"/>
    <p:sldId id="313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88629" autoAdjust="0"/>
  </p:normalViewPr>
  <p:slideViewPr>
    <p:cSldViewPr snapToGrid="0">
      <p:cViewPr varScale="1">
        <p:scale>
          <a:sx n="96" d="100"/>
          <a:sy n="96" d="100"/>
        </p:scale>
        <p:origin x="1219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would you write “given, when, then” for the code on the right?</a:t>
            </a:r>
          </a:p>
        </p:txBody>
      </p:sp>
    </p:spTree>
    <p:extLst>
      <p:ext uri="{BB962C8B-B14F-4D97-AF65-F5344CB8AC3E}">
        <p14:creationId xmlns:p14="http://schemas.microsoft.com/office/powerpoint/2010/main" val="259124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15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15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15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15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15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15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15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15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15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15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15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15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15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15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15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15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15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15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15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15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7FE559F-A69D-96FE-0A04-8C56F712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4A98C9-C1DD-89E2-DDF3-993183F4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Discuss the importance of a complete test suite</a:t>
            </a:r>
          </a:p>
          <a:p>
            <a:r>
              <a:rPr lang="en-US" sz="2000" dirty="0"/>
              <a:t>Define the differences between unit, integration, and end-to-end testing</a:t>
            </a:r>
          </a:p>
          <a:p>
            <a:r>
              <a:rPr lang="en-US" sz="2000" dirty="0"/>
              <a:t>Create unit tests to achieve a specified code coverage level</a:t>
            </a:r>
          </a:p>
          <a:p>
            <a:r>
              <a:rPr lang="en-US" sz="2000" dirty="0"/>
              <a:t>Utilize fixtures and mocks to implement unit tests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C1BA-8184-F399-52E1-DF0559D2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15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16D77-84D3-8FA3-891B-71DA76C5AC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F92D-E4C3-FA11-7EC2-01846332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EB188-7270-1524-3E8B-318661C1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Why is testing important?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DE6ED-64A6-5458-DB9D-0F6C8FF5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1EC50-0401-63AD-7ED6-A349F8DC8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6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F05B-CD75-98E1-A2FA-575C547E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1CD7-A0B0-4C95-2BF1-0C5D7C99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Different mindset of software development</a:t>
            </a:r>
          </a:p>
          <a:p>
            <a:r>
              <a:rPr lang="en-US" sz="2000" dirty="0"/>
              <a:t>Requirements </a:t>
            </a:r>
            <a:r>
              <a:rPr lang="en-US" sz="2000" dirty="0">
                <a:sym typeface="Wingdings" panose="05000000000000000000" pitchFamily="2" charset="2"/>
              </a:rPr>
              <a:t> tests  code</a:t>
            </a:r>
          </a:p>
          <a:p>
            <a:endParaRPr lang="en-US" sz="2000" dirty="0"/>
          </a:p>
          <a:p>
            <a:r>
              <a:rPr lang="en-US" sz="2000" dirty="0"/>
              <a:t>Typically done in red-green-refactor phases</a:t>
            </a:r>
          </a:p>
          <a:p>
            <a:pPr lvl="1"/>
            <a:r>
              <a:rPr lang="en-US" sz="2000" dirty="0"/>
              <a:t>Write a failing test</a:t>
            </a:r>
          </a:p>
          <a:p>
            <a:pPr lvl="1"/>
            <a:r>
              <a:rPr lang="en-US" sz="2000" dirty="0"/>
              <a:t>Write code until the test passes</a:t>
            </a:r>
          </a:p>
          <a:p>
            <a:pPr lvl="1"/>
            <a:r>
              <a:rPr lang="en-US" sz="2000" dirty="0"/>
              <a:t>Refactor the code to cleanup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CA61-666D-3AD7-C994-D81AABA4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AC2A-742E-2C9D-35B8-27BA587AD9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 descr="SAP ABAP Central: Embracing ABAP TDD as a standard development practice">
            <a:extLst>
              <a:ext uri="{FF2B5EF4-FFF2-40B4-BE49-F238E27FC236}">
                <a16:creationId xmlns:a16="http://schemas.microsoft.com/office/drawing/2014/main" id="{2CACE41C-B794-80D5-6A13-59ECBB55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37" y="1106724"/>
            <a:ext cx="3575033" cy="319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12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33D3B0C-739C-850B-E8B0-88D0AE79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AC32-266B-12C8-C1B8-88A1DCC5C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r>
              <a:rPr lang="en-US" sz="2000" dirty="0"/>
              <a:t>Functional</a:t>
            </a:r>
          </a:p>
          <a:p>
            <a:pPr lvl="1"/>
            <a:r>
              <a:rPr lang="en-US" sz="2000" dirty="0"/>
              <a:t>Unit tests</a:t>
            </a:r>
          </a:p>
          <a:p>
            <a:pPr lvl="1"/>
            <a:r>
              <a:rPr lang="en-US" sz="2000" dirty="0"/>
              <a:t>Integration tests</a:t>
            </a:r>
          </a:p>
          <a:p>
            <a:pPr lvl="1"/>
            <a:r>
              <a:rPr lang="en-US" sz="2000" dirty="0"/>
              <a:t>End-to-end tests</a:t>
            </a:r>
          </a:p>
          <a:p>
            <a:pPr lvl="1"/>
            <a:r>
              <a:rPr lang="en-US" sz="2000" dirty="0"/>
              <a:t>Acceptance</a:t>
            </a:r>
          </a:p>
          <a:p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78E69E-B881-745F-F366-5FDC88F33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r>
              <a:rPr lang="en-US" sz="2000" dirty="0"/>
              <a:t>Non-functional</a:t>
            </a:r>
          </a:p>
          <a:p>
            <a:pPr lvl="1"/>
            <a:r>
              <a:rPr lang="en-US" sz="2000" dirty="0"/>
              <a:t>Security</a:t>
            </a:r>
          </a:p>
          <a:p>
            <a:pPr lvl="1"/>
            <a:r>
              <a:rPr lang="en-US" sz="2000" dirty="0"/>
              <a:t>Performance</a:t>
            </a:r>
          </a:p>
          <a:p>
            <a:pPr lvl="1"/>
            <a:r>
              <a:rPr lang="en-US" sz="2000" dirty="0"/>
              <a:t>Usability</a:t>
            </a:r>
          </a:p>
          <a:p>
            <a:pPr lvl="1"/>
            <a:r>
              <a:rPr lang="en-US" sz="2000" dirty="0"/>
              <a:t>Compatibility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F94D-9A8F-273C-9ED2-DF7F0C2D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fld id="{AD622D1A-DF83-41A8-85FF-04D90BF831D3}" type="datetime3">
              <a:rPr lang="en-US" smtClean="0"/>
              <a:pPr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F0DA4-BCF7-EF1E-9AA7-BAE9CA7D8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24742-28FC-35BF-F5BC-7DFC4FDD4445}"/>
              </a:ext>
            </a:extLst>
          </p:cNvPr>
          <p:cNvSpPr/>
          <p:nvPr/>
        </p:nvSpPr>
        <p:spPr>
          <a:xfrm>
            <a:off x="323193" y="1478943"/>
            <a:ext cx="2727435" cy="759760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231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D95709F-23DC-CE6B-8806-0F735FC54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F397191A-FBCA-40CC-963B-8A860C4B7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DB2F-43A0-D1EE-D9B5-CDDC2B97D8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DB3DA-67B5-771E-F568-EE6675ECE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8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A5C1-36C5-E915-CBC5-7D7CD1A7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C36C-120B-87F4-5D71-A794B523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your house stable if the lumber is rotted?</a:t>
            </a:r>
          </a:p>
          <a:p>
            <a:endParaRPr lang="en-US" dirty="0"/>
          </a:p>
          <a:p>
            <a:r>
              <a:rPr lang="en-US" dirty="0"/>
              <a:t>Smallest piece of testable code : unit</a:t>
            </a:r>
          </a:p>
          <a:p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Helps ensure correctness</a:t>
            </a:r>
          </a:p>
          <a:p>
            <a:pPr lvl="1"/>
            <a:r>
              <a:rPr lang="en-US" dirty="0"/>
              <a:t>Catch problems early</a:t>
            </a:r>
          </a:p>
          <a:p>
            <a:pPr lvl="1"/>
            <a:r>
              <a:rPr lang="en-US" dirty="0"/>
              <a:t>Fast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F75E-9FB6-943E-41DF-666C5C59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1C542-534E-2D44-400B-38F340C7F6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 descr="How Long Does It Take For Wood To Rot From Water? | Mr. Happy House">
            <a:extLst>
              <a:ext uri="{FF2B5EF4-FFF2-40B4-BE49-F238E27FC236}">
                <a16:creationId xmlns:a16="http://schemas.microsoft.com/office/drawing/2014/main" id="{7466663E-251C-47AF-5AFF-DEF9015F6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6" r="8171"/>
          <a:stretch>
            <a:fillRect/>
          </a:stretch>
        </p:blipFill>
        <p:spPr bwMode="auto">
          <a:xfrm>
            <a:off x="5066250" y="994411"/>
            <a:ext cx="3777832" cy="349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5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B0CD-E74D-BE1E-414C-3CD3EF0B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/ </a:t>
            </a:r>
            <a:r>
              <a:rPr lang="en-US" dirty="0" err="1"/>
              <a:t>Reqts</a:t>
            </a:r>
            <a:r>
              <a:rPr lang="en-US" dirty="0"/>
              <a:t>.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A605-4A2B-6CAF-CFDB-7A668CF8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– When – Then</a:t>
            </a:r>
          </a:p>
          <a:p>
            <a:pPr lvl="1"/>
            <a:r>
              <a:rPr lang="en-US" dirty="0"/>
              <a:t>Given:  The initial conditions / prerequisites</a:t>
            </a:r>
          </a:p>
          <a:p>
            <a:pPr lvl="1"/>
            <a:r>
              <a:rPr lang="en-US" dirty="0"/>
              <a:t>When:  The action or event to be verified</a:t>
            </a:r>
          </a:p>
          <a:p>
            <a:pPr lvl="1"/>
            <a:r>
              <a:rPr lang="en-US" dirty="0"/>
              <a:t>Then:  The outcomes of the action or event</a:t>
            </a:r>
          </a:p>
          <a:p>
            <a:pPr lvl="1"/>
            <a:endParaRPr lang="en-US" dirty="0"/>
          </a:p>
          <a:p>
            <a:r>
              <a:rPr lang="en-US" dirty="0"/>
              <a:t>Useful for formulating unit tests based on requirements</a:t>
            </a:r>
          </a:p>
          <a:p>
            <a:r>
              <a:rPr lang="en-US" dirty="0"/>
              <a:t>Used to communicate with non-technical stakeholders</a:t>
            </a:r>
          </a:p>
          <a:p>
            <a:endParaRPr lang="en-US" dirty="0"/>
          </a:p>
          <a:p>
            <a:r>
              <a:rPr lang="en-US" dirty="0"/>
              <a:t>Keep tests small!!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4E67-D772-02EE-2CB1-D80A2922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A20B5-183D-3DB8-5673-BF11A0ADE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7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9D93-4180-EF54-50FF-00DB1942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CD1D4-5C92-E15E-754F-BC4FD4C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1E27D-B0B5-62F1-862A-867482461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 descr="Agile Glossary: Agile acronyms and terms explained">
            <a:extLst>
              <a:ext uri="{FF2B5EF4-FFF2-40B4-BE49-F238E27FC236}">
                <a16:creationId xmlns:a16="http://schemas.microsoft.com/office/drawing/2014/main" id="{98A883D0-A54F-C3ED-9369-C3576E6897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64" y="170512"/>
            <a:ext cx="8321040" cy="480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99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C4A051-5CF9-F03C-F6A8-EEDF3A08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Python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E6471E-885A-C4EC-98B7-2EEF5A626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/ </a:t>
            </a:r>
            <a:r>
              <a:rPr lang="en-US" dirty="0" err="1"/>
              <a:t>unittest</a:t>
            </a:r>
            <a:r>
              <a:rPr lang="en-US" dirty="0"/>
              <a:t> / </a:t>
            </a:r>
            <a:r>
              <a:rPr lang="en-US" dirty="0" err="1"/>
              <a:t>doctest</a:t>
            </a:r>
            <a:endParaRPr lang="en-US" dirty="0"/>
          </a:p>
          <a:p>
            <a:r>
              <a:rPr lang="en-US" dirty="0"/>
              <a:t>Each has their own pros/cons</a:t>
            </a:r>
          </a:p>
          <a:p>
            <a:r>
              <a:rPr lang="en-US" dirty="0"/>
              <a:t>Assert statement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1876-1A94-405C-2DB3-D9A7BF85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83A2-D3FE-3766-A6CD-A4F0CC2B4B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C16F60-E62F-E722-A549-EB4588C17CB8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38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3651-07F6-DB6F-A98E-EFB6F1D8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2E27-18DF-F8AB-1548-D158CE0BBD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separate package / command</a:t>
            </a:r>
          </a:p>
          <a:p>
            <a:r>
              <a:rPr lang="en-US" dirty="0"/>
              <a:t>Generally auto-discovers tests</a:t>
            </a:r>
          </a:p>
          <a:p>
            <a:r>
              <a:rPr lang="en-US" dirty="0"/>
              <a:t>Can also give specific files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C1246-14A2-519B-9F55-69EC95F5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38D10-9EA1-24C6-4C63-94CE5D5CBB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22EB9-9C92-8A02-6C6E-CF471D491576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C907C-09AF-C73A-EF05-EE3567B8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3" y="3627494"/>
            <a:ext cx="9144000" cy="14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7264-3561-01DF-CFB2-F05689F7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BB724-6DB6-4EF5-D90E-C137CF0371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Temperature conversion</a:t>
            </a:r>
          </a:p>
          <a:p>
            <a:r>
              <a:rPr lang="en-US" dirty="0"/>
              <a:t>Scenario 1</a:t>
            </a:r>
          </a:p>
          <a:p>
            <a:pPr lvl="1"/>
            <a:r>
              <a:rPr lang="en-US" dirty="0"/>
              <a:t>Given a temperature of 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32F</a:t>
            </a:r>
          </a:p>
          <a:p>
            <a:r>
              <a:rPr lang="en-US" dirty="0"/>
              <a:t>Scenario 2</a:t>
            </a:r>
          </a:p>
          <a:p>
            <a:pPr lvl="1"/>
            <a:r>
              <a:rPr lang="en-US" dirty="0"/>
              <a:t>Given a temperature of 100C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212F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C7BCA-AE9D-B545-6AFE-970F098650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Scenario 3</a:t>
            </a:r>
          </a:p>
          <a:p>
            <a:pPr lvl="1"/>
            <a:r>
              <a:rPr lang="en-US" dirty="0"/>
              <a:t>Given a temperature of -40C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-40F</a:t>
            </a:r>
          </a:p>
          <a:p>
            <a:r>
              <a:rPr lang="en-US" dirty="0"/>
              <a:t>Scenario 4</a:t>
            </a:r>
          </a:p>
          <a:p>
            <a:pPr lvl="1"/>
            <a:r>
              <a:rPr lang="en-US" dirty="0"/>
              <a:t>Given a temperature of -300C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an error!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9210C-E383-2C70-69E9-8F3B29E3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9A9C-2C9B-C770-ED0C-27DDC13889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3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93DEF-0125-C556-C5DB-76B764340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5AB1948-77A9-A7D2-7B16-3ED4D8D81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434AD-5E2E-0FAD-91BD-BC1E28DBCF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15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D50F-1517-9E8D-2D77-FBE74D198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2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F007-C706-BB88-CA9D-5A0EA65F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369A-5286-95C3-F1B1-37C71A72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coverage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6368-EE73-EDD4-A570-E1B8AEC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EC8BB-A300-E137-E2BE-5D5200542B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61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7449-8A14-8E4E-1773-68687CF0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FD7A7-318A-9FEF-28C1-5F14AE54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FC9A-DC16-0D9D-1583-AC865242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8E3C8-C147-89EA-F9F4-7977B79D8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0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BFE8-BEA7-3940-667B-3FF6A7BC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</a:t>
            </a:r>
            <a:r>
              <a:rPr lang="en-US"/>
              <a:t>External 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A01B0-9D70-8BBB-8D34-48A2E2EF3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 to mocks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B9305-2CBA-FCFF-86FC-1A2D6F2D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ECD0-6721-C76E-C7B4-37CC4871F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8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DADAD-76BA-9AB6-04D8-F9635943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6B38081-0A20-1671-69BB-F04D160E8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Integration Tests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3BA15F1A-B579-CF67-3060-C51EA22FB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030FD-2B80-BD4D-BA09-0A7A49C2BA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F3622-C14B-8E9D-151C-66C2F0F036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13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4BFEEE-7A67-A4C6-34AC-EBA551105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6C219E-137A-78B0-B87B-03012C100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Integration tests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F2481-E1BF-0673-AADD-550026A8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A292B-1E3A-EB90-3705-C1841930EC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5729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A9B4-610E-079B-1B4C-B2DA6358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71C84-11DA-CC16-E166-D409DD2E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15F3F-3A06-58A0-7854-7393E234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06345-62A7-3075-1403-F85D44D6AF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36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15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</TotalTime>
  <Words>503</Words>
  <Application>Microsoft Office PowerPoint</Application>
  <PresentationFormat>On-screen Show (16:9)</PresentationFormat>
  <Paragraphs>144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Bold</vt:lpstr>
      <vt:lpstr>Consolas</vt:lpstr>
      <vt:lpstr>Play</vt:lpstr>
      <vt:lpstr>Wingdings</vt:lpstr>
      <vt:lpstr>US Army 2023 AFC DEVCOM Logo</vt:lpstr>
      <vt:lpstr>Testing</vt:lpstr>
      <vt:lpstr>Lesson Objectives</vt:lpstr>
      <vt:lpstr>Why Test?</vt:lpstr>
      <vt:lpstr>Test Driven Development</vt:lpstr>
      <vt:lpstr>Testing Types</vt:lpstr>
      <vt:lpstr>Unit Tests</vt:lpstr>
      <vt:lpstr>Unit Testing</vt:lpstr>
      <vt:lpstr>Unit Testing / Reqts. Framework</vt:lpstr>
      <vt:lpstr>PowerPoint Presentation</vt:lpstr>
      <vt:lpstr>Testing in Python</vt:lpstr>
      <vt:lpstr>PyTest</vt:lpstr>
      <vt:lpstr>Pytest Example</vt:lpstr>
      <vt:lpstr>Hands-On #1</vt:lpstr>
      <vt:lpstr>Completeness</vt:lpstr>
      <vt:lpstr>DRY</vt:lpstr>
      <vt:lpstr>Mocking External References</vt:lpstr>
      <vt:lpstr>Integration Tests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203</cp:revision>
  <dcterms:modified xsi:type="dcterms:W3CDTF">2026-06-15T17:57:59Z</dcterms:modified>
</cp:coreProperties>
</file>